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39" r:id="rId1"/>
  </p:sldMasterIdLst>
  <p:notesMasterIdLst>
    <p:notesMasterId r:id="rId15"/>
  </p:notes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58" r:id="rId11"/>
    <p:sldId id="259" r:id="rId12"/>
    <p:sldId id="260" r:id="rId13"/>
    <p:sldId id="26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94637" autoAdjust="0"/>
  </p:normalViewPr>
  <p:slideViewPr>
    <p:cSldViewPr snapToGrid="0" snapToObjects="1">
      <p:cViewPr varScale="1">
        <p:scale>
          <a:sx n="77" d="100"/>
          <a:sy n="77" d="100"/>
        </p:scale>
        <p:origin x="474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E00EE-F544-4E57-B36B-320316AAD007}" type="datetimeFigureOut">
              <a:rPr lang="en-IN" smtClean="0"/>
              <a:t>22-05-2025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31F92-D6A4-4F72-90FC-8694585262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295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31F92-D6A4-4F72-90FC-86945852625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518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7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2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916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3" y="2367094"/>
            <a:ext cx="10363827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680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828565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3657459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070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6" y="618519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3" y="2367094"/>
            <a:ext cx="5106027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4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209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6" y="618519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5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5" y="3051014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1" y="3051014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535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172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993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3" y="609602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6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37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6" y="609600"/>
            <a:ext cx="5506157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672361" y="609601"/>
            <a:ext cx="400780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4"/>
            <a:ext cx="550613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968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5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8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1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14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872589"/>
            <a:ext cx="9302752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5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372798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83501" y="887859"/>
            <a:ext cx="729184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6841" y="3120015"/>
            <a:ext cx="7381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3765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3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452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5" y="2943357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90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50" y="2943357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9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9" y="2943357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0564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5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6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6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6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2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300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9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4" y="4781080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9155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5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4859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09603"/>
            <a:ext cx="2553327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3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8090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923" y="2228004"/>
            <a:ext cx="10653003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662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6" y="618519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5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5" y="5883277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3" y="5883277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38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0" r:id="rId1"/>
    <p:sldLayoutId id="2147484041" r:id="rId2"/>
    <p:sldLayoutId id="2147484042" r:id="rId3"/>
    <p:sldLayoutId id="2147484043" r:id="rId4"/>
    <p:sldLayoutId id="2147484044" r:id="rId5"/>
    <p:sldLayoutId id="2147484045" r:id="rId6"/>
    <p:sldLayoutId id="2147484046" r:id="rId7"/>
    <p:sldLayoutId id="2147484047" r:id="rId8"/>
    <p:sldLayoutId id="2147484048" r:id="rId9"/>
    <p:sldLayoutId id="2147484049" r:id="rId10"/>
    <p:sldLayoutId id="2147484050" r:id="rId11"/>
    <p:sldLayoutId id="2147484051" r:id="rId12"/>
    <p:sldLayoutId id="2147484052" r:id="rId13"/>
    <p:sldLayoutId id="2147484053" r:id="rId14"/>
    <p:sldLayoutId id="2147484054" r:id="rId15"/>
    <p:sldLayoutId id="2147484055" r:id="rId16"/>
    <p:sldLayoutId id="2147484056" r:id="rId17"/>
    <p:sldLayoutId id="2147484057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Customer Purchase Analysis &amp; Segmentation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Project: CDACL-002 | Tool: Power BI | Analyst: </a:t>
            </a:r>
            <a:r>
              <a:rPr lang="en-IN" dirty="0"/>
              <a:t>Prashant Sakhare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 dirty="0">
                <a:solidFill>
                  <a:srgbClr val="000000"/>
                </a:solidFill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>
                <a:solidFill>
                  <a:srgbClr val="000000"/>
                </a:solidFill>
              </a:rPr>
              <a:t>Source: Shopping dataset (3,900 records)</a:t>
            </a:r>
          </a:p>
          <a:p>
            <a:pPr algn="l"/>
            <a:r>
              <a:rPr dirty="0">
                <a:solidFill>
                  <a:srgbClr val="000000"/>
                </a:solidFill>
              </a:rPr>
              <a:t>Key Fields: Age, Gender, Category, Purchase Amount, Discounts, </a:t>
            </a:r>
            <a:r>
              <a:rPr lang="en-IN" dirty="0">
                <a:solidFill>
                  <a:srgbClr val="000000"/>
                </a:solidFill>
              </a:rPr>
              <a:t>S</a:t>
            </a:r>
            <a:r>
              <a:rPr dirty="0" err="1">
                <a:solidFill>
                  <a:srgbClr val="000000"/>
                </a:solidFill>
              </a:rPr>
              <a:t>ubscription</a:t>
            </a:r>
            <a:r>
              <a:rPr dirty="0">
                <a:solidFill>
                  <a:srgbClr val="000000"/>
                </a:solidFill>
              </a:rPr>
              <a:t>, Location</a:t>
            </a:r>
          </a:p>
          <a:p>
            <a:pPr algn="l"/>
            <a:r>
              <a:rPr dirty="0">
                <a:solidFill>
                  <a:srgbClr val="000000"/>
                </a:solidFill>
              </a:rPr>
              <a:t>Objective: Analyze customer trends, evaluate discount strategies, and build customer segments</a:t>
            </a:r>
          </a:p>
        </p:txBody>
      </p:sp>
      <p:pic>
        <p:nvPicPr>
          <p:cNvPr id="5" name="Graphic 4" descr="Database with solid fill">
            <a:extLst>
              <a:ext uri="{FF2B5EF4-FFF2-40B4-BE49-F238E27FC236}">
                <a16:creationId xmlns:a16="http://schemas.microsoft.com/office/drawing/2014/main" id="{C89828BF-6FF5-44BC-A834-046DEBEF14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52557" y="4043401"/>
            <a:ext cx="2672219" cy="26722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/>
              <a:t>Business Performance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Total Sales:</a:t>
            </a:r>
            <a:r>
              <a:rPr lang="en-US" dirty="0"/>
              <a:t> $233K</a:t>
            </a:r>
          </a:p>
          <a:p>
            <a:r>
              <a:rPr lang="en-US" b="1" dirty="0"/>
              <a:t>Unique Customers:</a:t>
            </a:r>
            <a:r>
              <a:rPr lang="en-US" dirty="0"/>
              <a:t> 3,900</a:t>
            </a:r>
          </a:p>
          <a:p>
            <a:r>
              <a:rPr lang="en-US" b="1" dirty="0"/>
              <a:t>Repeat Customers:</a:t>
            </a:r>
            <a:r>
              <a:rPr lang="en-US" dirty="0"/>
              <a:t> 97.87% – very strong loyalty</a:t>
            </a:r>
          </a:p>
          <a:p>
            <a:r>
              <a:rPr lang="en-US" b="1" dirty="0"/>
              <a:t>Avg. Purchase:</a:t>
            </a:r>
            <a:r>
              <a:rPr lang="en-US" dirty="0"/>
              <a:t> $59.76</a:t>
            </a:r>
          </a:p>
          <a:p>
            <a:r>
              <a:rPr lang="en-US" b="1" dirty="0"/>
              <a:t>Avg. Rating:</a:t>
            </a:r>
            <a:r>
              <a:rPr lang="en-US" dirty="0"/>
              <a:t> 3.75/5</a:t>
            </a:r>
          </a:p>
          <a:p>
            <a:r>
              <a:rPr lang="en-US" b="1" dirty="0"/>
              <a:t>Discount Usage:</a:t>
            </a:r>
            <a:r>
              <a:rPr lang="en-US" dirty="0"/>
              <a:t> 43% of all purchases used a discount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✅ </a:t>
            </a:r>
            <a:r>
              <a:rPr lang="en-US" i="1" dirty="0"/>
              <a:t>This shows your store is doing well, especially with customer retention. But there is heavy reliance on seasonal trends and discounts.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815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/>
              <a:t>Age Group Performance</a:t>
            </a: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2730" y="2504946"/>
            <a:ext cx="3665497" cy="33701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3776" y="2089445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Top Spending Group: </a:t>
            </a:r>
            <a:r>
              <a:rPr lang="en-US" b="1" dirty="0"/>
              <a:t>21–50 age range</a:t>
            </a:r>
            <a:r>
              <a:rPr lang="en-US" dirty="0"/>
              <a:t> (Around 57% Combined)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Followed by 50+ age group (37%)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 20 spends the least (5.36%)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✅ </a:t>
            </a:r>
            <a:r>
              <a:rPr lang="en-US" i="1" dirty="0"/>
              <a:t>Ideal target audience is 21 to 50 years old. They respond well to your offerings and promotions.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992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/>
              <a:t>Frequency of Purchases</a:t>
            </a: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290" y="867950"/>
            <a:ext cx="4232366" cy="26934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3776" y="1887312"/>
            <a:ext cx="64798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are well spread across Weekly, Fortnightly, Monthly, Quarterly,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 single frequency dominates</a:t>
            </a:r>
            <a:r>
              <a:rPr lang="en-US" dirty="0"/>
              <a:t> (all around 13%–15%)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dirty="0"/>
              <a:t>✅ </a:t>
            </a:r>
            <a:r>
              <a:rPr lang="en-US" i="1" dirty="0"/>
              <a:t>This indicates a consistent shopping pattern. You can create specific offers based on frequency — like “every 2 weeks get a deal” or “monthly bundles.”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26686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/>
              <a:t>Subscription Insights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1" y="2214696"/>
            <a:ext cx="3871586" cy="37246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09749" y="2214696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73% of sales come from </a:t>
            </a:r>
            <a:r>
              <a:rPr lang="en-US" b="1" dirty="0"/>
              <a:t>Unsubscribed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Subscribed customers likely show more loyalty and higher spending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✅ </a:t>
            </a:r>
            <a:r>
              <a:rPr lang="en-US" i="1" dirty="0"/>
              <a:t>Subscriptions work! You should promote this more — e.g., exclusive deals for members.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004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/>
              <a:t>Category-Wise Revenue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388" y="2214696"/>
            <a:ext cx="3780845" cy="363950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467394" y="2182766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Top: Clothing ($104K), Accessories ($74K)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Low: Outerwear ($19K)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endParaRPr lang="en-US" dirty="0"/>
          </a:p>
          <a:p>
            <a:r>
              <a:rPr lang="en-US" dirty="0"/>
              <a:t>✅ </a:t>
            </a:r>
            <a:r>
              <a:rPr lang="en-US" i="1" dirty="0"/>
              <a:t>Focus campaigns on outerwear — maybe bundled with bestsellers like accessories or shirts.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EFC36D-5EA9-4BB4-88B9-D5ABEDE423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1674221" y="4192269"/>
            <a:ext cx="3181794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0607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/>
              <a:t>Discount Usage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3776" y="1899702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Discount Usage: Roughly 50% across all seasons and categories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Very </a:t>
            </a:r>
            <a:r>
              <a:rPr lang="en-US" b="1" dirty="0"/>
              <a:t>small difference in Avg. Spend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With discount: $60.13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Without discount: $59.28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✅ </a:t>
            </a:r>
            <a:r>
              <a:rPr lang="en-US" i="1" dirty="0"/>
              <a:t>This means discounts are not increasing order value — they may be overused. Cut down on random discounts and focus on targeted deals.</a:t>
            </a:r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76" y="3104510"/>
            <a:ext cx="3867230" cy="2329331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576" y="3104510"/>
            <a:ext cx="3400029" cy="232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34650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/>
              <a:t>Customer Segmentation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01188" y="5274270"/>
            <a:ext cx="97144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✅ Frequent Shopper are 26% and contribute 20% revenue due to their low ATS (45$), We can train our salesmen for upsell and cross sell to this segment without hampering their shopping experience and convert these customers into loyal high spenders.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022550"/>
              </p:ext>
            </p:extLst>
          </p:nvPr>
        </p:nvGraphicFramePr>
        <p:xfrm>
          <a:off x="913775" y="2090055"/>
          <a:ext cx="9314442" cy="2598626"/>
        </p:xfrm>
        <a:graphic>
          <a:graphicData uri="http://schemas.openxmlformats.org/drawingml/2006/table">
            <a:tbl>
              <a:tblPr/>
              <a:tblGrid>
                <a:gridCol w="2365835">
                  <a:extLst>
                    <a:ext uri="{9D8B030D-6E8A-4147-A177-3AD203B41FA5}">
                      <a16:colId xmlns:a16="http://schemas.microsoft.com/office/drawing/2014/main" val="1337068073"/>
                    </a:ext>
                  </a:extLst>
                </a:gridCol>
                <a:gridCol w="1301485">
                  <a:extLst>
                    <a:ext uri="{9D8B030D-6E8A-4147-A177-3AD203B41FA5}">
                      <a16:colId xmlns:a16="http://schemas.microsoft.com/office/drawing/2014/main" val="1699522050"/>
                    </a:ext>
                  </a:extLst>
                </a:gridCol>
                <a:gridCol w="1102953">
                  <a:extLst>
                    <a:ext uri="{9D8B030D-6E8A-4147-A177-3AD203B41FA5}">
                      <a16:colId xmlns:a16="http://schemas.microsoft.com/office/drawing/2014/main" val="451901586"/>
                    </a:ext>
                  </a:extLst>
                </a:gridCol>
                <a:gridCol w="1367663">
                  <a:extLst>
                    <a:ext uri="{9D8B030D-6E8A-4147-A177-3AD203B41FA5}">
                      <a16:colId xmlns:a16="http://schemas.microsoft.com/office/drawing/2014/main" val="3215945364"/>
                    </a:ext>
                  </a:extLst>
                </a:gridCol>
                <a:gridCol w="1323545">
                  <a:extLst>
                    <a:ext uri="{9D8B030D-6E8A-4147-A177-3AD203B41FA5}">
                      <a16:colId xmlns:a16="http://schemas.microsoft.com/office/drawing/2014/main" val="3087095245"/>
                    </a:ext>
                  </a:extLst>
                </a:gridCol>
                <a:gridCol w="1852961">
                  <a:extLst>
                    <a:ext uri="{9D8B030D-6E8A-4147-A177-3AD203B41FA5}">
                      <a16:colId xmlns:a16="http://schemas.microsoft.com/office/drawing/2014/main" val="959998074"/>
                    </a:ext>
                  </a:extLst>
                </a:gridCol>
              </a:tblGrid>
              <a:tr h="4466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Segment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Revenue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Revenue 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Avg Spend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Discount Usage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669614"/>
                  </a:ext>
                </a:extLst>
              </a:tr>
              <a:tr h="4263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Occasional Spender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109797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265065"/>
                  </a:ext>
                </a:extLst>
              </a:tr>
              <a:tr h="4263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Frequent Shopper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7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46194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845079"/>
                  </a:ext>
                </a:extLst>
              </a:tr>
              <a:tr h="4263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Casual Buyer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35608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 specified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2172519"/>
                  </a:ext>
                </a:extLst>
              </a:tr>
              <a:tr h="4263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Discount Seeker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2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27334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419555"/>
                  </a:ext>
                </a:extLst>
              </a:tr>
              <a:tr h="4466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Loyal High Spender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388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966332"/>
      </p:ext>
    </p:extLst>
  </p:cSld>
  <p:clrMapOvr>
    <a:masterClrMapping/>
  </p:clrMapOvr>
  <p:transition spd="slow">
    <p:comb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 dirty="0">
                <a:solidFill>
                  <a:srgbClr val="000000"/>
                </a:solidFill>
              </a:rPr>
              <a:t>Key Insights (Overall)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dirty="0">
                <a:solidFill>
                  <a:srgbClr val="000000"/>
                </a:solidFill>
              </a:rPr>
              <a:t>97%+ customers are repeat buyers – strong loyalty base</a:t>
            </a:r>
          </a:p>
          <a:p>
            <a:pPr algn="l"/>
            <a:r>
              <a:rPr lang="en-US" dirty="0">
                <a:solidFill>
                  <a:srgbClr val="000000"/>
                </a:solidFill>
              </a:rPr>
              <a:t>43</a:t>
            </a:r>
            <a:r>
              <a:rPr dirty="0">
                <a:solidFill>
                  <a:srgbClr val="000000"/>
                </a:solidFill>
              </a:rPr>
              <a:t>% of revenue comes from discounted purchases; avg spend similar to non-discounted</a:t>
            </a:r>
          </a:p>
          <a:p>
            <a:pPr algn="l"/>
            <a:r>
              <a:rPr dirty="0">
                <a:solidFill>
                  <a:srgbClr val="000000"/>
                </a:solidFill>
              </a:rPr>
              <a:t>Age group 21–40 contributes the most to revenue</a:t>
            </a:r>
          </a:p>
          <a:p>
            <a:pPr algn="l"/>
            <a:r>
              <a:rPr dirty="0">
                <a:solidFill>
                  <a:srgbClr val="000000"/>
                </a:solidFill>
              </a:rPr>
              <a:t>Fall &amp; Winter </a:t>
            </a:r>
            <a:r>
              <a:rPr lang="en-US" dirty="0">
                <a:solidFill>
                  <a:srgbClr val="000000"/>
                </a:solidFill>
              </a:rPr>
              <a:t>ARE BEST PERFORMING SEASONS</a:t>
            </a:r>
            <a:endParaRPr dirty="0">
              <a:solidFill>
                <a:srgbClr val="000000"/>
              </a:solidFill>
            </a:endParaRPr>
          </a:p>
          <a:p>
            <a:pPr algn="l"/>
            <a:r>
              <a:rPr dirty="0">
                <a:solidFill>
                  <a:srgbClr val="000000"/>
                </a:solidFill>
              </a:rPr>
              <a:t>Categories like Clothing &amp; Accessories dominate sales</a:t>
            </a:r>
          </a:p>
        </p:txBody>
      </p:sp>
      <p:pic>
        <p:nvPicPr>
          <p:cNvPr id="5" name="Graphic 4" descr="Magnifying glass with solid fill">
            <a:extLst>
              <a:ext uri="{FF2B5EF4-FFF2-40B4-BE49-F238E27FC236}">
                <a16:creationId xmlns:a16="http://schemas.microsoft.com/office/drawing/2014/main" id="{7DF0035B-5830-424B-B182-564047359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959407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spd="slow">
    <p:dissolv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 dirty="0">
                <a:solidFill>
                  <a:srgbClr val="000000"/>
                </a:solidFill>
              </a:rPr>
              <a:t>Customer Segments &amp;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rgbClr val="000000"/>
                </a:solidFill>
              </a:rPr>
              <a:t>Loyal High Spenders (164): </a:t>
            </a:r>
            <a:r>
              <a:rPr lang="en-US" dirty="0">
                <a:solidFill>
                  <a:srgbClr val="000000"/>
                </a:solidFill>
              </a:rPr>
              <a:t>Create VIP loyalty program with early access, free shipping, exclusive items</a:t>
            </a:r>
            <a:r>
              <a:rPr dirty="0">
                <a:solidFill>
                  <a:srgbClr val="000000"/>
                </a:solidFill>
              </a:rPr>
              <a:t>, retain at all costs</a:t>
            </a:r>
          </a:p>
          <a:p>
            <a:pPr algn="l"/>
            <a:r>
              <a:rPr dirty="0">
                <a:solidFill>
                  <a:srgbClr val="000000"/>
                </a:solidFill>
              </a:rPr>
              <a:t>Occasional High Spenders (1,283): Incentivize frequency, upsell with rewards</a:t>
            </a:r>
          </a:p>
          <a:p>
            <a:pPr algn="l"/>
            <a:r>
              <a:rPr dirty="0">
                <a:solidFill>
                  <a:srgbClr val="000000"/>
                </a:solidFill>
              </a:rPr>
              <a:t>Frequent Shoppers (1,030): Increase basket size via bundles and cross-sells</a:t>
            </a:r>
          </a:p>
          <a:p>
            <a:pPr algn="l"/>
            <a:r>
              <a:rPr dirty="0">
                <a:solidFill>
                  <a:srgbClr val="000000"/>
                </a:solidFill>
              </a:rPr>
              <a:t>Discount Seekers (609): Target with limited-time product-specific deals</a:t>
            </a:r>
          </a:p>
          <a:p>
            <a:pPr algn="l"/>
            <a:r>
              <a:rPr dirty="0">
                <a:solidFill>
                  <a:srgbClr val="000000"/>
                </a:solidFill>
              </a:rPr>
              <a:t>Casual Buyers (814): Retargeting, first-time buyer campaigns</a:t>
            </a:r>
          </a:p>
        </p:txBody>
      </p:sp>
      <p:pic>
        <p:nvPicPr>
          <p:cNvPr id="5" name="Graphic 4" descr="Arrow circle with solid fill">
            <a:extLst>
              <a:ext uri="{FF2B5EF4-FFF2-40B4-BE49-F238E27FC236}">
                <a16:creationId xmlns:a16="http://schemas.microsoft.com/office/drawing/2014/main" id="{E191A0C6-0BB1-4135-8477-6A695600C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17079" y="959407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 dirty="0">
                <a:solidFill>
                  <a:srgbClr val="000000"/>
                </a:solidFill>
              </a:rPr>
              <a:t>Strategic Recommendations</a:t>
            </a:r>
          </a:p>
        </p:txBody>
      </p:sp>
      <p:pic>
        <p:nvPicPr>
          <p:cNvPr id="5" name="Graphic 4" descr="Boardroom with solid fill">
            <a:extLst>
              <a:ext uri="{FF2B5EF4-FFF2-40B4-BE49-F238E27FC236}">
                <a16:creationId xmlns:a16="http://schemas.microsoft.com/office/drawing/2014/main" id="{01A8DBC7-9B5D-4C89-A4DE-A80FBDABF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3271" y="4517707"/>
            <a:ext cx="3091856" cy="234029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380016"/>
              </p:ext>
            </p:extLst>
          </p:nvPr>
        </p:nvGraphicFramePr>
        <p:xfrm>
          <a:off x="1429475" y="1998619"/>
          <a:ext cx="7701461" cy="3749039"/>
        </p:xfrm>
        <a:graphic>
          <a:graphicData uri="http://schemas.openxmlformats.org/drawingml/2006/table">
            <a:tbl>
              <a:tblPr/>
              <a:tblGrid>
                <a:gridCol w="2061577">
                  <a:extLst>
                    <a:ext uri="{9D8B030D-6E8A-4147-A177-3AD203B41FA5}">
                      <a16:colId xmlns:a16="http://schemas.microsoft.com/office/drawing/2014/main" val="1148098572"/>
                    </a:ext>
                  </a:extLst>
                </a:gridCol>
                <a:gridCol w="5639884">
                  <a:extLst>
                    <a:ext uri="{9D8B030D-6E8A-4147-A177-3AD203B41FA5}">
                      <a16:colId xmlns:a16="http://schemas.microsoft.com/office/drawing/2014/main" val="693761232"/>
                    </a:ext>
                  </a:extLst>
                </a:gridCol>
              </a:tblGrid>
              <a:tr h="2769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Focus Area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Recommendation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128122"/>
                  </a:ext>
                </a:extLst>
              </a:tr>
              <a:tr h="5325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Loyal Customers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Create VIP loyalty program with early access, free shipping, exclusive items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8683017"/>
                  </a:ext>
                </a:extLst>
              </a:tr>
              <a:tr h="5325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Discount Strategy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Reduce blanket discounts; use time-limited or product-based promo codes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1495585"/>
                  </a:ext>
                </a:extLst>
              </a:tr>
              <a:tr h="5325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Age-Based Targeting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Focus ads, offers, and bundles on age 21–40 — your biggest spending group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2176002"/>
                  </a:ext>
                </a:extLst>
              </a:tr>
              <a:tr h="5325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Low-Performing Categories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Bundle or cross-sell Outerwear with Accessories to increase visibility ATS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2353177"/>
                  </a:ext>
                </a:extLst>
              </a:tr>
              <a:tr h="5325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Subscriptions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Promote more aggressively with benefits like bonus points or free returns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0519407"/>
                  </a:ext>
                </a:extLst>
              </a:tr>
              <a:tr h="8094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Segments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Use your segmentation logic for tailored email campaigns:  Upsell Occasional Spenders  Retarget Casual Buyers  Send special offers to Discount Seekers during clearance sales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388441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Bar graph with upward trend with solid fill">
            <a:extLst>
              <a:ext uri="{FF2B5EF4-FFF2-40B4-BE49-F238E27FC236}">
                <a16:creationId xmlns:a16="http://schemas.microsoft.com/office/drawing/2014/main" id="{215F245C-22EF-4E2F-B4A2-D5CABD66AC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7654" y="878909"/>
            <a:ext cx="8054236" cy="51001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 dirty="0">
                <a:solidFill>
                  <a:srgbClr val="000000"/>
                </a:solidFill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>
                <a:solidFill>
                  <a:srgbClr val="000000"/>
                </a:solidFill>
              </a:rPr>
              <a:t>For any questions or follow-up:</a:t>
            </a:r>
          </a:p>
          <a:p>
            <a:pPr algn="l"/>
            <a:r>
              <a:rPr dirty="0">
                <a:solidFill>
                  <a:srgbClr val="000000"/>
                </a:solidFill>
              </a:rPr>
              <a:t>📧 </a:t>
            </a:r>
            <a:r>
              <a:rPr lang="en-IN" dirty="0">
                <a:solidFill>
                  <a:srgbClr val="000000"/>
                </a:solidFill>
              </a:rPr>
              <a:t>sakhare96.Prashant@gmail.com</a:t>
            </a:r>
            <a:endParaRPr dirty="0">
              <a:solidFill>
                <a:srgbClr val="000000"/>
              </a:solidFill>
            </a:endParaRPr>
          </a:p>
          <a:p>
            <a:pPr algn="l"/>
            <a:r>
              <a:rPr lang="en-IN" dirty="0">
                <a:solidFill>
                  <a:srgbClr val="000000"/>
                </a:solidFill>
              </a:rPr>
              <a:t>💼 LinkedIn: www.linkedin.com/in/prashant-sakhare-1a645522b</a:t>
            </a:r>
          </a:p>
          <a:p>
            <a:pPr algn="l"/>
            <a:r>
              <a:rPr dirty="0">
                <a:solidFill>
                  <a:srgbClr val="000000"/>
                </a:solidFill>
              </a:rPr>
              <a:t>✅ Submitted as part of CDACL-002 Client Project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5184F80-C9F2-49EE-A93D-AB63FE39E4AD}">
  <we:reference id="wa104381411" version="2.4.5.0" store="en-US" storeType="OMEX"/>
  <we:alternateReferences>
    <we:reference id="wa104381411" version="2.4.5.0" store="WA10438141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213</TotalTime>
  <Words>733</Words>
  <Application>Microsoft Office PowerPoint</Application>
  <PresentationFormat>Widescreen</PresentationFormat>
  <Paragraphs>126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Tw Cen MT</vt:lpstr>
      <vt:lpstr>Droplet</vt:lpstr>
      <vt:lpstr>Customer Purchase Analysis &amp; Segmentation</vt:lpstr>
      <vt:lpstr>Dataset Overview</vt:lpstr>
      <vt:lpstr>Business Performance Summary</vt:lpstr>
      <vt:lpstr>Age Group Performance</vt:lpstr>
      <vt:lpstr>Frequency of Purchases</vt:lpstr>
      <vt:lpstr>Subscription Insights</vt:lpstr>
      <vt:lpstr>Category-Wise Revenue</vt:lpstr>
      <vt:lpstr>Discount Usage Patterns</vt:lpstr>
      <vt:lpstr>Customer Segmentation Insights</vt:lpstr>
      <vt:lpstr>Key Insights (Overall)</vt:lpstr>
      <vt:lpstr>Customer Segments &amp; Strategy</vt:lpstr>
      <vt:lpstr>Strategic Recommendations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Purchase Analysis &amp; Segmentation</dc:title>
  <dc:subject/>
  <dc:creator>Prashant Sakhare</dc:creator>
  <cp:keywords/>
  <dc:description>generated using python-pptx</dc:description>
  <cp:lastModifiedBy>Dell</cp:lastModifiedBy>
  <cp:revision>27</cp:revision>
  <dcterms:created xsi:type="dcterms:W3CDTF">2013-01-27T09:14:16Z</dcterms:created>
  <dcterms:modified xsi:type="dcterms:W3CDTF">2025-05-22T18:00:17Z</dcterms:modified>
  <cp:category/>
</cp:coreProperties>
</file>